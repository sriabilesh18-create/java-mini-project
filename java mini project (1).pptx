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jpeg" ContentType="image/jpe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3" r:id="rId9"/>
    <p:sldMasterId id="2147483664" r:id="rId10"/>
    <p:sldMasterId id="2147483665" r:id="rId11"/>
    <p:sldMasterId id="2147483666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280" cy="149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92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8B4B3F-E117-406A-AFB0-207A2F4A384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280" cy="149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92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E4F485-F001-4138-9AC7-4AFEB69774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280" cy="149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92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5D13082-EF74-4539-B22D-35F224682F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280" cy="149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92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E504EFC-0B25-4A6F-A2E0-C3CD1646CC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280" cy="149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92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CDEA86DE-7550-442F-BE95-98F139C3E5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280" cy="149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92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60ACCC8-67F7-4A29-B37A-7B65FDB2917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280" cy="149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9719280" cy="40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7C3A544-3AB2-4481-B762-68457B3D66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F08E56DA-3055-4D67-B737-5C83C74EEC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0" name="Straight Connector 6"/>
          <p:cNvCxnSpPr/>
          <p:nvPr/>
        </p:nvCxnSpPr>
        <p:spPr>
          <a:xfrm flipV="1">
            <a:off x="761760" y="826200"/>
            <a:ext cx="720" cy="915120"/>
          </a:xfrm>
          <a:prstGeom prst="straightConnector1">
            <a:avLst/>
          </a:prstGeom>
          <a:ln w="19080">
            <a:solidFill>
              <a:srgbClr val="1cade4"/>
            </a:solidFill>
            <a:round/>
          </a:ln>
        </p:spPr>
      </p:cxnSp>
      <p:sp>
        <p:nvSpPr>
          <p:cNvPr id="1" name="PlaceHolder 1"/>
          <p:cNvSpPr>
            <a:spLocks noGrp="1"/>
          </p:cNvSpPr>
          <p:nvPr>
            <p:ph type="dt" idx="1"/>
          </p:nvPr>
        </p:nvSpPr>
        <p:spPr>
          <a:xfrm>
            <a:off x="1024200" y="6470640"/>
            <a:ext cx="21535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ftr" idx="2"/>
          </p:nvPr>
        </p:nvSpPr>
        <p:spPr>
          <a:xfrm>
            <a:off x="4843080" y="6470640"/>
            <a:ext cx="59007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3"/>
          </p:nvPr>
        </p:nvSpPr>
        <p:spPr>
          <a:xfrm>
            <a:off x="10837440" y="6470640"/>
            <a:ext cx="973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5F473013-6F73-417F-8954-FA5F58208191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6"/>
          <p:cNvCxnSpPr/>
          <p:nvPr/>
        </p:nvCxnSpPr>
        <p:spPr>
          <a:xfrm flipV="1">
            <a:off x="761760" y="826200"/>
            <a:ext cx="720" cy="915120"/>
          </a:xfrm>
          <a:prstGeom prst="straightConnector1">
            <a:avLst/>
          </a:prstGeom>
          <a:ln w="19080">
            <a:solidFill>
              <a:srgbClr val="1cade4"/>
            </a:solidFill>
            <a:round/>
          </a:ln>
        </p:spPr>
      </p:cxn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024200" y="471600"/>
            <a:ext cx="4388400" cy="173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4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IN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715000" y="822960"/>
            <a:ext cx="5677560" cy="51840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1024200" y="2257560"/>
            <a:ext cx="4388400" cy="376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8000"/>
              </a:lnSpc>
              <a:spcBef>
                <a:spcPts val="601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1024200" y="6470640"/>
            <a:ext cx="21535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4843080" y="6470640"/>
            <a:ext cx="59007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10837440" y="6470640"/>
            <a:ext cx="973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95404329-E818-46A7-9C34-67F1FA28F09E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6"/>
          <p:cNvCxnSpPr/>
          <p:nvPr/>
        </p:nvCxnSpPr>
        <p:spPr>
          <a:xfrm flipV="1">
            <a:off x="761760" y="826200"/>
            <a:ext cx="720" cy="915120"/>
          </a:xfrm>
          <a:prstGeom prst="straightConnector1">
            <a:avLst/>
          </a:prstGeom>
          <a:ln w="19080">
            <a:solidFill>
              <a:srgbClr val="1cade4"/>
            </a:solidFill>
            <a:round/>
          </a:ln>
        </p:spPr>
      </p:cxn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4960080"/>
            <a:ext cx="7771680" cy="146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201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610480" y="4960080"/>
            <a:ext cx="3199680" cy="146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432000" indent="-324000" defTabSz="914400">
              <a:lnSpc>
                <a:spcPct val="100000"/>
              </a:lnSpc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7"/>
          </p:nvPr>
        </p:nvSpPr>
        <p:spPr>
          <a:xfrm>
            <a:off x="1024200" y="6470640"/>
            <a:ext cx="21535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8"/>
          </p:nvPr>
        </p:nvSpPr>
        <p:spPr>
          <a:xfrm>
            <a:off x="4843080" y="6470640"/>
            <a:ext cx="59007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9"/>
          </p:nvPr>
        </p:nvSpPr>
        <p:spPr>
          <a:xfrm>
            <a:off x="10837440" y="6470640"/>
            <a:ext cx="973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9356DD7F-F042-422C-800C-BCB83D213C54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21" name="Straight Connector 7"/>
          <p:cNvCxnSpPr/>
          <p:nvPr/>
        </p:nvCxnSpPr>
        <p:spPr>
          <a:xfrm flipV="1">
            <a:off x="8386560" y="5263920"/>
            <a:ext cx="720" cy="915120"/>
          </a:xfrm>
          <a:prstGeom prst="straightConnector1">
            <a:avLst/>
          </a:prstGeom>
          <a:ln w="19080">
            <a:solidFill>
              <a:srgbClr val="1cade4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6"/>
          <p:cNvCxnSpPr/>
          <p:nvPr/>
        </p:nvCxnSpPr>
        <p:spPr>
          <a:xfrm flipV="1">
            <a:off x="761760" y="826200"/>
            <a:ext cx="720" cy="915120"/>
          </a:xfrm>
          <a:prstGeom prst="straightConnector1">
            <a:avLst/>
          </a:prstGeom>
          <a:ln w="19080">
            <a:solidFill>
              <a:srgbClr val="1cade4"/>
            </a:solidFill>
            <a:round/>
          </a:ln>
        </p:spPr>
      </p:cxnSp>
      <p:sp>
        <p:nvSpPr>
          <p:cNvPr id="25" name="Rectangle 9"/>
          <p:cNvSpPr/>
          <p:nvPr/>
        </p:nvSpPr>
        <p:spPr>
          <a:xfrm>
            <a:off x="0" y="0"/>
            <a:ext cx="12191400" cy="457128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Oval 5"/>
          <p:cNvSpPr/>
          <p:nvPr/>
        </p:nvSpPr>
        <p:spPr>
          <a:xfrm>
            <a:off x="0" y="0"/>
            <a:ext cx="12191400" cy="457128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4571280"/>
              <a:gd name="textAreaBottom" fmla="*/ 4572000 h 4571280"/>
            </a:gdLst>
            <a:ahLst/>
            <a:cxnLst/>
            <a:rect l="textAreaLeft" t="textAreaTop" r="textAreaRight" b="textAreaBottom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4960080"/>
            <a:ext cx="7771680" cy="146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201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dt" idx="10"/>
          </p:nvPr>
        </p:nvSpPr>
        <p:spPr>
          <a:xfrm>
            <a:off x="1024200" y="6470640"/>
            <a:ext cx="21535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ftr" idx="11"/>
          </p:nvPr>
        </p:nvSpPr>
        <p:spPr>
          <a:xfrm>
            <a:off x="4843080" y="6470640"/>
            <a:ext cx="59007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sldNum" idx="12"/>
          </p:nvPr>
        </p:nvSpPr>
        <p:spPr>
          <a:xfrm>
            <a:off x="10837440" y="6470640"/>
            <a:ext cx="973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01AD1B11-F0C4-4CB4-978F-EAC66F632673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31" name="Straight Connector 7"/>
          <p:cNvCxnSpPr/>
          <p:nvPr/>
        </p:nvCxnSpPr>
        <p:spPr>
          <a:xfrm flipV="1">
            <a:off x="8386560" y="5263920"/>
            <a:ext cx="720" cy="915120"/>
          </a:xfrm>
          <a:prstGeom prst="straightConnector1">
            <a:avLst/>
          </a:prstGeom>
          <a:ln w="19080">
            <a:solidFill>
              <a:srgbClr val="1482ac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6"/>
          <p:cNvCxnSpPr/>
          <p:nvPr/>
        </p:nvCxnSpPr>
        <p:spPr>
          <a:xfrm flipV="1">
            <a:off x="761760" y="826200"/>
            <a:ext cx="720" cy="915120"/>
          </a:xfrm>
          <a:prstGeom prst="straightConnector1">
            <a:avLst/>
          </a:prstGeom>
          <a:ln w="19080">
            <a:solidFill>
              <a:srgbClr val="1cade4"/>
            </a:solidFill>
            <a:round/>
          </a:ln>
        </p:spPr>
      </p:cxn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28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9719280" cy="40226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13"/>
          </p:nvPr>
        </p:nvSpPr>
        <p:spPr>
          <a:xfrm>
            <a:off x="1024200" y="6470640"/>
            <a:ext cx="21535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14"/>
          </p:nvPr>
        </p:nvSpPr>
        <p:spPr>
          <a:xfrm>
            <a:off x="4843080" y="6470640"/>
            <a:ext cx="59007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sldNum" idx="15"/>
          </p:nvPr>
        </p:nvSpPr>
        <p:spPr>
          <a:xfrm>
            <a:off x="10837440" y="6470640"/>
            <a:ext cx="973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9C3A9265-CB9E-431F-BB39-E78EA7051A2B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traight Connector 6"/>
          <p:cNvCxnSpPr/>
          <p:nvPr/>
        </p:nvCxnSpPr>
        <p:spPr>
          <a:xfrm flipV="1">
            <a:off x="761760" y="826200"/>
            <a:ext cx="720" cy="915120"/>
          </a:xfrm>
          <a:prstGeom prst="straightConnector1">
            <a:avLst/>
          </a:prstGeom>
          <a:ln w="19080">
            <a:solidFill>
              <a:srgbClr val="1cade4"/>
            </a:solidFill>
            <a:round/>
          </a:ln>
        </p:spPr>
      </p:cxn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724960" y="762120"/>
            <a:ext cx="2628360" cy="54093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91440" bIns="91440" anchor="t" anchorCtr="1" vert="eaVert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990720" y="762120"/>
            <a:ext cx="7581240" cy="54093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 vert="eaVer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16"/>
          </p:nvPr>
        </p:nvSpPr>
        <p:spPr>
          <a:xfrm>
            <a:off x="1024200" y="6470640"/>
            <a:ext cx="21535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ftr" idx="17"/>
          </p:nvPr>
        </p:nvSpPr>
        <p:spPr>
          <a:xfrm>
            <a:off x="4843080" y="6470640"/>
            <a:ext cx="59007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8"/>
          </p:nvPr>
        </p:nvSpPr>
        <p:spPr>
          <a:xfrm>
            <a:off x="10837440" y="6470640"/>
            <a:ext cx="973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0F5866E3-44A4-4834-BDE9-2DC77C4E930E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48" name="Straight Connector 6"/>
          <p:cNvCxnSpPr/>
          <p:nvPr/>
        </p:nvCxnSpPr>
        <p:spPr>
          <a:xfrm>
            <a:off x="9601200" y="516240"/>
            <a:ext cx="915120" cy="720"/>
          </a:xfrm>
          <a:prstGeom prst="straightConnector1">
            <a:avLst/>
          </a:prstGeom>
          <a:ln w="19080">
            <a:solidFill>
              <a:srgbClr val="1cade4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Connector 6"/>
          <p:cNvCxnSpPr/>
          <p:nvPr/>
        </p:nvCxnSpPr>
        <p:spPr>
          <a:xfrm flipV="1">
            <a:off x="761760" y="826200"/>
            <a:ext cx="720" cy="915120"/>
          </a:xfrm>
          <a:prstGeom prst="straightConnector1">
            <a:avLst/>
          </a:prstGeom>
          <a:ln w="19080">
            <a:solidFill>
              <a:srgbClr val="1cade4"/>
            </a:solidFill>
            <a:round/>
          </a:ln>
        </p:spPr>
      </p:cxn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28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9719280" cy="40226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dt" idx="19"/>
          </p:nvPr>
        </p:nvSpPr>
        <p:spPr>
          <a:xfrm>
            <a:off x="1024200" y="6470640"/>
            <a:ext cx="21535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ftr" idx="20"/>
          </p:nvPr>
        </p:nvSpPr>
        <p:spPr>
          <a:xfrm>
            <a:off x="4843080" y="6470640"/>
            <a:ext cx="59007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sldNum" idx="21"/>
          </p:nvPr>
        </p:nvSpPr>
        <p:spPr>
          <a:xfrm>
            <a:off x="10837440" y="6470640"/>
            <a:ext cx="973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1EEC5316-A61B-469B-807B-E2C0817D5455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Straight Connector 6"/>
          <p:cNvCxnSpPr/>
          <p:nvPr/>
        </p:nvCxnSpPr>
        <p:spPr>
          <a:xfrm flipV="1">
            <a:off x="761760" y="826200"/>
            <a:ext cx="720" cy="915120"/>
          </a:xfrm>
          <a:prstGeom prst="straightConnector1">
            <a:avLst/>
          </a:prstGeom>
          <a:ln w="19080">
            <a:solidFill>
              <a:srgbClr val="1cade4"/>
            </a:solidFill>
            <a:round/>
          </a:ln>
        </p:spPr>
      </p:cxnSp>
      <p:sp>
        <p:nvSpPr>
          <p:cNvPr id="60" name="Rectangle 8"/>
          <p:cNvSpPr/>
          <p:nvPr/>
        </p:nvSpPr>
        <p:spPr>
          <a:xfrm>
            <a:off x="0" y="0"/>
            <a:ext cx="12191400" cy="4571280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Oval 5"/>
          <p:cNvSpPr/>
          <p:nvPr/>
        </p:nvSpPr>
        <p:spPr>
          <a:xfrm>
            <a:off x="0" y="0"/>
            <a:ext cx="12191400" cy="4571280"/>
          </a:xfrm>
          <a:custGeom>
            <a:avLst/>
            <a:gdLst>
              <a:gd name="textAreaLeft" fmla="*/ 0 w 12191400"/>
              <a:gd name="textAreaRight" fmla="*/ 12192120 w 12191400"/>
              <a:gd name="textAreaTop" fmla="*/ 0 h 4571280"/>
              <a:gd name="textAreaBottom" fmla="*/ 4572000 h 4571280"/>
            </a:gdLst>
            <a:ahLst/>
            <a:cxnLst/>
            <a:rect l="textAreaLeft" t="textAreaTop" r="textAreaRight" b="textAreaBottom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4960080"/>
            <a:ext cx="7771680" cy="146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r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201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8610480" y="4960080"/>
            <a:ext cx="3199680" cy="146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432000" indent="-324000" defTabSz="914400">
              <a:lnSpc>
                <a:spcPct val="100000"/>
              </a:lnSpc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dt" idx="22"/>
          </p:nvPr>
        </p:nvSpPr>
        <p:spPr>
          <a:xfrm>
            <a:off x="1024200" y="6470640"/>
            <a:ext cx="21535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ftr" idx="23"/>
          </p:nvPr>
        </p:nvSpPr>
        <p:spPr>
          <a:xfrm>
            <a:off x="4843080" y="6470640"/>
            <a:ext cx="59007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sldNum" idx="24"/>
          </p:nvPr>
        </p:nvSpPr>
        <p:spPr>
          <a:xfrm>
            <a:off x="10837440" y="6470640"/>
            <a:ext cx="973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017CB97B-45AF-4D40-9CD8-B5941E75F884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67" name="Straight Connector 7"/>
          <p:cNvCxnSpPr/>
          <p:nvPr/>
        </p:nvCxnSpPr>
        <p:spPr>
          <a:xfrm flipV="1">
            <a:off x="8386560" y="5263920"/>
            <a:ext cx="720" cy="915120"/>
          </a:xfrm>
          <a:prstGeom prst="straightConnector1">
            <a:avLst/>
          </a:prstGeom>
          <a:ln w="19080">
            <a:solidFill>
              <a:srgbClr val="1482ac"/>
            </a:solidFill>
            <a:rou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Straight Connector 6"/>
          <p:cNvCxnSpPr/>
          <p:nvPr/>
        </p:nvCxnSpPr>
        <p:spPr>
          <a:xfrm flipV="1">
            <a:off x="761760" y="826200"/>
            <a:ext cx="720" cy="915120"/>
          </a:xfrm>
          <a:prstGeom prst="straightConnector1">
            <a:avLst/>
          </a:prstGeom>
          <a:ln w="19080">
            <a:solidFill>
              <a:srgbClr val="1cade4"/>
            </a:solidFill>
            <a:round/>
          </a:ln>
        </p:spPr>
      </p:cxn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28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024200" y="2286000"/>
            <a:ext cx="4754160" cy="40226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432000" indent="-32400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5989320" y="2286000"/>
            <a:ext cx="4754160" cy="402264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25"/>
          </p:nvPr>
        </p:nvSpPr>
        <p:spPr>
          <a:xfrm>
            <a:off x="1024200" y="6470640"/>
            <a:ext cx="21535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26"/>
          </p:nvPr>
        </p:nvSpPr>
        <p:spPr>
          <a:xfrm>
            <a:off x="4843080" y="6470640"/>
            <a:ext cx="59007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27"/>
          </p:nvPr>
        </p:nvSpPr>
        <p:spPr>
          <a:xfrm>
            <a:off x="10837440" y="6470640"/>
            <a:ext cx="973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AE401FCF-62F8-49A5-A851-F6AB12482E60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Straight Connector 6"/>
          <p:cNvCxnSpPr/>
          <p:nvPr/>
        </p:nvCxnSpPr>
        <p:spPr>
          <a:xfrm flipV="1">
            <a:off x="761760" y="826200"/>
            <a:ext cx="720" cy="915120"/>
          </a:xfrm>
          <a:prstGeom prst="straightConnector1">
            <a:avLst/>
          </a:prstGeom>
          <a:ln w="19080">
            <a:solidFill>
              <a:srgbClr val="1cade4"/>
            </a:solidFill>
            <a:round/>
          </a:ln>
        </p:spPr>
      </p:cxn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28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1024200" y="2179800"/>
            <a:ext cx="4754160" cy="822240"/>
          </a:xfrm>
          <a:prstGeom prst="rect">
            <a:avLst/>
          </a:prstGeom>
          <a:noFill/>
          <a:ln w="0">
            <a:noFill/>
          </a:ln>
        </p:spPr>
        <p:txBody>
          <a:bodyPr lIns="137160" rIns="137160" tIns="45720" bIns="45720" anchor="ctr">
            <a:normAutofit/>
          </a:bodyPr>
          <a:p>
            <a:pPr marL="432000" indent="-324000" defTabSz="914400">
              <a:lnSpc>
                <a:spcPct val="9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300" strike="noStrike" u="none">
                <a:solidFill>
                  <a:schemeClr val="accent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IN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1024200" y="2967840"/>
            <a:ext cx="4754160" cy="33408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5990760" y="2179800"/>
            <a:ext cx="4754160" cy="822240"/>
          </a:xfrm>
          <a:prstGeom prst="rect">
            <a:avLst/>
          </a:prstGeom>
          <a:noFill/>
          <a:ln w="0">
            <a:noFill/>
          </a:ln>
        </p:spPr>
        <p:txBody>
          <a:bodyPr lIns="137160" rIns="137160" tIns="45720" bIns="45720" anchor="ctr">
            <a:normAutofit/>
          </a:bodyPr>
          <a:p>
            <a:pPr indent="0" defTabSz="914400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r>
              <a:rPr b="0" lang="en-US" sz="2300" strike="noStrike" u="none">
                <a:solidFill>
                  <a:schemeClr val="accent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IN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5990760" y="2967840"/>
            <a:ext cx="4754160" cy="33408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Autofit/>
          </a:bodyPr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</a:pPr>
            <a:r>
              <a:rPr b="0" lang="en-US" sz="22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Click to edit Master text styles</a:t>
            </a: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26532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Second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44820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Third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59436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Fourth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777240" indent="-137160" defTabSz="914400">
              <a:lnSpc>
                <a:spcPct val="90000"/>
              </a:lnSpc>
              <a:spcBef>
                <a:spcPts val="201"/>
              </a:spcBef>
              <a:spcAft>
                <a:spcPts val="400"/>
              </a:spcAft>
              <a:buClr>
                <a:srgbClr val="1cade4"/>
              </a:buClr>
              <a:buFont typeface="Wingdings 3" charset="2"/>
              <a:buChar char="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Fifth level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dt" idx="28"/>
          </p:nvPr>
        </p:nvSpPr>
        <p:spPr>
          <a:xfrm>
            <a:off x="1024200" y="6470640"/>
            <a:ext cx="21535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ftr" idx="29"/>
          </p:nvPr>
        </p:nvSpPr>
        <p:spPr>
          <a:xfrm>
            <a:off x="4843080" y="6470640"/>
            <a:ext cx="59007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8"/>
          <p:cNvSpPr>
            <a:spLocks noGrp="1"/>
          </p:cNvSpPr>
          <p:nvPr>
            <p:ph type="sldNum" idx="30"/>
          </p:nvPr>
        </p:nvSpPr>
        <p:spPr>
          <a:xfrm>
            <a:off x="10837440" y="6470640"/>
            <a:ext cx="973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4686C6AC-7A2F-4616-9F76-58E7E9729B6B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Straight Connector 6"/>
          <p:cNvCxnSpPr/>
          <p:nvPr/>
        </p:nvCxnSpPr>
        <p:spPr>
          <a:xfrm flipV="1">
            <a:off x="761760" y="826200"/>
            <a:ext cx="720" cy="915120"/>
          </a:xfrm>
          <a:prstGeom prst="straightConnector1">
            <a:avLst/>
          </a:prstGeom>
          <a:ln w="19080">
            <a:solidFill>
              <a:srgbClr val="1cade4"/>
            </a:solidFill>
            <a:round/>
          </a:ln>
        </p:spPr>
      </p:cxn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971928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5000" spc="99" strike="noStrike" u="none" cap="all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Click to edit Master title style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dt" idx="31"/>
          </p:nvPr>
        </p:nvSpPr>
        <p:spPr>
          <a:xfrm>
            <a:off x="1024200" y="6470640"/>
            <a:ext cx="215352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&lt;date/time&gt;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ftr" idx="32"/>
          </p:nvPr>
        </p:nvSpPr>
        <p:spPr>
          <a:xfrm>
            <a:off x="4843080" y="6470640"/>
            <a:ext cx="590076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sldNum" idx="33"/>
          </p:nvPr>
        </p:nvSpPr>
        <p:spPr>
          <a:xfrm>
            <a:off x="10837440" y="6470640"/>
            <a:ext cx="973080" cy="27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fld id="{D1B57402-9069-4B78-9D5B-69D48FD815A1}" type="slidenum">
              <a:rPr b="0" lang="en-US" sz="1000" strike="noStrike" u="none">
                <a:solidFill>
                  <a:schemeClr val="dk1">
                    <a:lumMod val="95000"/>
                    <a:lumOff val="5000"/>
                  </a:schemeClr>
                </a:solidFill>
                <a:effectLst/>
                <a:uFillTx/>
                <a:latin typeface="Tw Cen MT Condensed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8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0080" y="0"/>
            <a:ext cx="4069080" cy="685728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09960" y="640080"/>
            <a:ext cx="3429000" cy="561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project programming presentation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699800" y="2106360"/>
            <a:ext cx="7171560" cy="37443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Project Title: Course Recommendation and Skill Tracking System for Student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Course: java Programming  / Mini Project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Student Name &amp; Roll No: Sri abilesh.v/25BCS152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Department: BSC.Computer Science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Tw Cen MT"/>
              </a:rPr>
              <a:t>Mentor / Guide: Mr.Aravind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Picture 5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4699800" y="233280"/>
            <a:ext cx="6743160" cy="1685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000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94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Introduction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97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52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This project helps students choose suitable courses based on their skills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Tracks student progress and skill development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Provides personalized recommendations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Useful for academic and career planning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Picture 6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000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02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Objective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05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3469320" y="1739160"/>
            <a:ext cx="7922520" cy="43038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To develop a Java-based recommendation system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To track student skills and progress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To suggest courses based on performance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To improve decision-making for students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000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10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Problem Statement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13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3375360" y="1990440"/>
            <a:ext cx="792252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92500" lnSpcReduction="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Students often don’t know which course to choose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No proper system to track skills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Manual guidance is limited and time-consuming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Need an automated intelligent system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000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18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System Requirements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21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52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Hardware Requirements: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• Processor: Intel i3 or higher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• RAM: 4 GB minimum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• Storage: 500 MB free space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Software Requirements: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• OS: Windows / Linux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IN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•LANGUAGE : JAVA PROGRAMING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3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000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26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System Design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29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3397680" y="2121480"/>
            <a:ext cx="792252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Student enters details (skills, interests)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System processes input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Matches skills with course database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Displays recommended course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👉 Add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Flowchart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Block Diagram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05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000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34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2831040" y="30276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Module Description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37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2828880" y="1801800"/>
            <a:ext cx="9300600" cy="430380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1. Input Module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Takes student details (name, skills)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2. Processing Module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Matches skills with courses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3. Recommendation Module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Suggests best courses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4. Tracking Module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Tracks progress and updates skills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5. Output Module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Displays result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9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000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42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44680" y="494280"/>
            <a:ext cx="8947440" cy="588024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Algorithm / Flowchart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45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3469320" y="2441160"/>
            <a:ext cx="792252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1. Start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2. Enter student details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3.Store skills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4. Compare with course database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5. Generate recommendations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6. Display results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7.Stop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" descr=""/>
          <p:cNvPicPr/>
          <p:nvPr/>
        </p:nvPicPr>
        <p:blipFill>
          <a:blip r:embed="rId1"/>
          <a:stretch/>
        </p:blipFill>
        <p:spPr>
          <a:xfrm rot="10200">
            <a:off x="8640" y="721800"/>
            <a:ext cx="9717840" cy="610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"/>
          <p:cNvSpPr txBox="1"/>
          <p:nvPr/>
        </p:nvSpPr>
        <p:spPr>
          <a:xfrm>
            <a:off x="3417840" y="0"/>
            <a:ext cx="3043440" cy="86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IN" sz="5000" spc="99" strike="noStrike" u="none" cap="all">
                <a:solidFill>
                  <a:srgbClr val="c9211e"/>
                </a:solidFill>
                <a:effectLst/>
                <a:uFillTx/>
                <a:latin typeface="Tw Cen MT Condensed"/>
              </a:rPr>
              <a:t>Flowchart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000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52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Implementation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55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3069360" y="1994040"/>
            <a:ext cx="792252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Java concepts used: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Classes &amp; Object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Arrays / ArrayList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Conditional statements (if-else)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Loops (for, while)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File handling (optional)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7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0" y="-95400"/>
            <a:ext cx="12547440" cy="85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Source code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609480" y="812880"/>
            <a:ext cx="9369720" cy="5977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import javax.swing.*;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import java.awt.*;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import java.awt.event.*;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public class CourseRecommendationSystem extends JFrame implements ActionListener {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JLabel nameLabel, skillLabel, interestLabel, resultLabel;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JTextField nameField;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JComboBox&lt;String&gt; skillBox, interestBox;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JButton recommendBtn;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public CourseRecommendationSystem() {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setTitle("Course Recommendation &amp; Skill Tracking System");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setSize(500, 400);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setLayout(new FlowLayout());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setDefaultCloseOperation(JFrame.EXIT_ON_CLOSE);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nameLabel = new JLabel("Enter Name:");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skillLabel = new JLabel("Select Skill Level:");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interestLabel = new JLabel("Select Interest:");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nameField = new JTextField(15);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String[] skills = {"Beginner", "Intermediate", "Advanced"};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skillBox = new JComboBox&lt;&gt;(skills);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String[] interests = {"Java", "Python", "Web Development"};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interestBox = new JcomboBox&lt;&gt;(interests);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recommendBtn = new JButton("Get Recommendation");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recommendBtn.addActionListener(this);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 txBox="1"/>
          <p:nvPr/>
        </p:nvSpPr>
        <p:spPr>
          <a:xfrm>
            <a:off x="177840" y="114480"/>
            <a:ext cx="11684160" cy="707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resultLabel = new JLabel("Recommended Course will appear here");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add(nameLabel);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add(nameField);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add(skillLabel);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add(skillBox);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add(interestLabel);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add(interestBox);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add(recommendBtn);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add(resultLabel);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}public void actionPerformed(ActionEvent e) {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String name = nameField.getText();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String skill = (String) skillBox.getSelectedItem();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String interest = (String) interestBox.getSelectedItem();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String recommendation = "";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// Recommendation Logic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if (interest.equals("Java")) {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    if (skill.equals("Beginner"))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        recommendation = "Learn Core Java";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    else if (skill.equals("Intermediate"))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        recommendation = "Learn Advanced Java &amp; JDBC";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    else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        recommendation = "Spring Boot &amp; Microservices";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}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 txBox="1"/>
          <p:nvPr/>
        </p:nvSpPr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else if (interest.equals("Python")) {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    if (skill.equals("Beginner"))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        recommendation = "Python Basics";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    else if (skill.equals("Intermediate"))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        recommendation = "Data Science with Python";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    else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        recommendation = "Machine Learning &amp; AI";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}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else if (interest.equals("Web Development")) {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    if (skill.equals("Beginner"))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        recommendation = "HTML, CSS, JavaScript";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    else if (skill.equals("Intermediate"))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        recommendation = "React JS / Node JS";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    else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        recommendation = "Full Stack Development";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}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resultLabel.setText("Hello " + name + ", Recommended: " + recommendation);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}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public static void main(String[] args) {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   new CourseRecommendationSystem().setVisible(true);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}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}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61800"/>
            <a:ext cx="12839040" cy="6429600"/>
          </a:xfrm>
          <a:prstGeom prst="rect">
            <a:avLst/>
          </a:prstGeom>
          <a:solidFill>
            <a:srgbClr val="00000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64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Output Screens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1580800">
            <a:off x="275760" y="502560"/>
            <a:ext cx="2128320" cy="588024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Tw Cen MT"/>
              </a:rPr>
              <a:t>java</a:t>
            </a:r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67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52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• Input screen sample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• Output / Result screen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• File storage proof (if applicable)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(Insert screenshots here)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9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 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000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72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Results &amp; Discussion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75" name="Straight Connector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52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System successfully recommends courses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Helps students choose correct path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Easy to use and efficient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Faced challenges: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Matching logic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Data organization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7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98640" y="1577520"/>
            <a:ext cx="12030840" cy="4007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"/>
          <p:cNvSpPr txBox="1"/>
          <p:nvPr/>
        </p:nvSpPr>
        <p:spPr>
          <a:xfrm>
            <a:off x="5002560" y="146880"/>
            <a:ext cx="2940120" cy="90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r"/>
            <a:r>
              <a:rPr b="0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en-IN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OutputScreens</a:t>
            </a:r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/>
            <a:endParaRPr b="0" lang="en-IN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000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82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Conclusion &amp; Future Enhancement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85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52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 fontScale="92500" lnSpcReduction="9999"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80000"/>
              </a:lnSpc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1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Conclusion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IN" sz="139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Project meets all objectives</a:t>
            </a:r>
            <a:endParaRPr b="0" lang="en-IN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IN" sz="139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Improves student decision-making</a:t>
            </a:r>
            <a:endParaRPr b="0" lang="en-IN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IN" sz="139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Demonstrates Java programming skills</a:t>
            </a:r>
            <a:endParaRPr b="0" lang="en-IN" sz="1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1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Future</a:t>
            </a: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 </a:t>
            </a:r>
            <a:r>
              <a:rPr b="1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EnhancemenT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Add GUI using Java Swing / JavaFX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Connect with database (MySQL)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Use AI for better recommendations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Mobile app version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7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000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90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72720" y="484560"/>
            <a:ext cx="8947440" cy="5880240"/>
          </a:xfrm>
          <a:prstGeom prst="rect">
            <a:avLst/>
          </a:prstGeom>
          <a:solidFill>
            <a:srgbClr val="40404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3469320" y="788400"/>
            <a:ext cx="7922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References / Acknowledgement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200" y="484560"/>
            <a:ext cx="2128320" cy="588024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cxnSp>
        <p:nvCxnSpPr>
          <p:cNvPr id="193" name="Straight Connecto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3206880" y="1029240"/>
            <a:ext cx="720" cy="915120"/>
          </a:xfrm>
          <a:prstGeom prst="straightConnector1">
            <a:avLst/>
          </a:prstGeom>
          <a:ln w="19080">
            <a:solidFill>
              <a:schemeClr val="accent1">
                <a:alpha val="80000"/>
              </a:schemeClr>
            </a:solidFill>
            <a:round/>
          </a:ln>
        </p:spPr>
      </p:cxn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3469320" y="2489040"/>
            <a:ext cx="7922520" cy="355392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Java Programming – E. Balagurusamy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Oracle Java Documentation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Online tutorials (GeeksforGeeks, W3Schools)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5" name="Picture 3" descr="A blue and red logo&#10;&#10;AI-generated content may be incorrect."/>
          <p:cNvPicPr/>
          <p:nvPr/>
        </p:nvPicPr>
        <p:blipFill>
          <a:blip r:embed="rId1"/>
          <a:stretch/>
        </p:blipFill>
        <p:spPr>
          <a:xfrm>
            <a:off x="566280" y="654840"/>
            <a:ext cx="1877400" cy="4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Title 1"/>
          <p:cNvSpPr/>
          <p:nvPr/>
        </p:nvSpPr>
        <p:spPr>
          <a:xfrm>
            <a:off x="566280" y="590040"/>
            <a:ext cx="1877400" cy="561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80000"/>
              </a:lnSpc>
            </a:pPr>
            <a:r>
              <a:rPr b="0" lang="en-IN" sz="2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JAVA Programming Project Presentation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tangl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0000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98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600" y="321840"/>
            <a:ext cx="11550600" cy="6213960"/>
          </a:xfrm>
          <a:prstGeom prst="rect">
            <a:avLst/>
          </a:prstGeom>
          <a:solidFill>
            <a:schemeClr val="accent1"/>
          </a:solidFill>
          <a:ln w="158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Tw Cen MT"/>
            </a:endParaRPr>
          </a:p>
        </p:txBody>
      </p:sp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1024200" y="585360"/>
            <a:ext cx="103291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IN" sz="5000" spc="99" strike="noStrike" u="none" cap="all">
                <a:solidFill>
                  <a:srgbClr val="ffffff"/>
                </a:solidFill>
                <a:effectLst/>
                <a:uFillTx/>
                <a:latin typeface="Tw Cen MT Condensed"/>
              </a:rPr>
              <a:t>Thank You</a:t>
            </a:r>
            <a:endParaRPr b="0" lang="en-IN" sz="5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0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761760" y="826200"/>
            <a:ext cx="720" cy="915120"/>
          </a:xfrm>
          <a:prstGeom prst="straightConnector1">
            <a:avLst/>
          </a:prstGeom>
          <a:ln w="19080">
            <a:solidFill>
              <a:srgbClr val="d2effa"/>
            </a:solidFill>
            <a:round/>
          </a:ln>
        </p:spPr>
      </p:cxn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1024200" y="2286000"/>
            <a:ext cx="10329120" cy="386208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IN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“Smart Learning Starts with Smart Choices”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Questions?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" indent="-91440" defTabSz="914400">
              <a:lnSpc>
                <a:spcPct val="90000"/>
              </a:lnSpc>
              <a:spcBef>
                <a:spcPts val="1199"/>
              </a:spcBef>
              <a:spcAft>
                <a:spcPts val="201"/>
              </a:spcAft>
              <a:buClr>
                <a:srgbClr val="1cade4"/>
              </a:buClr>
              <a:buFont typeface="Tw Cen MT"/>
              <a:buChar char=" "/>
              <a:tabLst>
                <a:tab algn="l" pos="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Tw Cen MT"/>
              </a:rPr>
              <a:t>Questions &amp; Discussions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25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2026-04-13T14:22:06Z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r8>14</vt:r8>
  </property>
</Properties>
</file>